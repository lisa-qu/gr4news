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9" r:id="rId4"/>
    <p:sldId id="260" r:id="rId5"/>
    <p:sldId id="261" r:id="rId6"/>
    <p:sldId id="266" r:id="rId7"/>
    <p:sldId id="262" r:id="rId8"/>
    <p:sldId id="263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85008"/>
  </p:normalViewPr>
  <p:slideViewPr>
    <p:cSldViewPr snapToGrid="0" snapToObjects="1">
      <p:cViewPr>
        <p:scale>
          <a:sx n="83" d="100"/>
          <a:sy n="83" d="100"/>
        </p:scale>
        <p:origin x="2384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0E07C-8631-2E4A-9A6E-2442B7432B67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6E482-3D6E-E74F-986D-606D6D0445B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541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6E482-3D6E-E74F-986D-606D6D0445B6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384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994" y="474500"/>
            <a:ext cx="8798011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13070"/>
                </a:solidFill>
                <a:latin typeface="Times New Roman"/>
              </a:rPr>
              <a:t>生成式新闻推荐中的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13070"/>
                </a:solidFill>
                <a:latin typeface="Times New Roman"/>
              </a:rPr>
              <a:t>Scoring Inefficiency 诊断与缓解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994" y="1937540"/>
            <a:ext cx="8798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核心发现：Autoregressive Beam Search 浪费了 91% 的生成能力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994" y="2851940"/>
            <a:ext cx="879801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 err="1">
                <a:solidFill>
                  <a:srgbClr val="213070"/>
                </a:solidFill>
                <a:latin typeface="Times New Roman"/>
              </a:rPr>
              <a:t>研究贡献</a:t>
            </a:r>
            <a:endParaRPr sz="26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rgbClr val="1A1A2E"/>
                </a:solidFill>
                <a:latin typeface="Times New Roman"/>
              </a:rPr>
              <a:t>1.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发现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置信度崩塌（Confidence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Cascade）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现象（ECE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爆炸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78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倍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rgbClr val="1A1A2E"/>
                </a:solidFill>
                <a:latin typeface="Times New Roman"/>
              </a:rPr>
              <a:t>2.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定义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Scoring Efficiency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指标（SE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= R@1 / R@50 = 9.0%）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rgbClr val="1A1A2E"/>
                </a:solidFill>
                <a:latin typeface="Times New Roman"/>
              </a:rPr>
              <a:t>3. Post-hoc Listwise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Scorer：冻结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Generator，R@1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提升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9.2%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994" y="5046500"/>
            <a:ext cx="8798011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666666"/>
                </a:solidFill>
                <a:latin typeface="Times New Roman"/>
              </a:rPr>
              <a:t>数据集：MIND（Microsoft News Dataset）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666666"/>
                </a:solidFill>
                <a:latin typeface="Times New Roman"/>
              </a:rPr>
              <a:t>模型：Encoder-Decoder + RQ-VAE 4-Token 语义编码 → Beam Search 生成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66666"/>
                </a:solidFill>
                <a:latin typeface="Times New Roman"/>
              </a:rPr>
              <a:t>首个将语义 ID GenRec 应用于新闻推荐的工作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AFE2B-A1C0-C653-CDAC-13E61B7733AE}"/>
              </a:ext>
            </a:extLst>
          </p:cNvPr>
          <p:cNvSpPr txBox="1"/>
          <p:nvPr/>
        </p:nvSpPr>
        <p:spPr>
          <a:xfrm>
            <a:off x="0" y="2064745"/>
            <a:ext cx="9171185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 dirty="0" err="1">
                <a:solidFill>
                  <a:srgbClr val="213070"/>
                </a:solidFill>
                <a:latin typeface="Times New Roman"/>
              </a:rPr>
              <a:t>术语说明</a:t>
            </a:r>
            <a:endParaRPr sz="22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正确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Prefix（Oracle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）=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强制喂入正确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Token </a:t>
            </a:r>
            <a:endParaRPr lang="en-US" sz="1800" b="0" i="0" dirty="0">
              <a:solidFill>
                <a:srgbClr val="666666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模型生成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Prefix（Greedy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）=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模型自己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Beam Search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生成的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Token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5FEF8-A5B0-CDDD-BEC9-E88F50C28FAC}"/>
              </a:ext>
            </a:extLst>
          </p:cNvPr>
          <p:cNvSpPr txBox="1"/>
          <p:nvPr/>
        </p:nvSpPr>
        <p:spPr>
          <a:xfrm>
            <a:off x="-1" y="3398736"/>
            <a:ext cx="4821607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 dirty="0" err="1">
                <a:solidFill>
                  <a:srgbClr val="213070"/>
                </a:solidFill>
                <a:latin typeface="Times New Roman"/>
              </a:rPr>
              <a:t>Δconf（置信度区分度</a:t>
            </a:r>
            <a:r>
              <a:rPr sz="2200" b="1" i="0" dirty="0">
                <a:solidFill>
                  <a:srgbClr val="213070"/>
                </a:solidFill>
                <a:latin typeface="Times New Roman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666666"/>
                </a:solidFill>
                <a:latin typeface="Times New Roman"/>
              </a:rPr>
              <a:t>= </a:t>
            </a:r>
            <a:r>
              <a:rPr sz="1600" b="0" i="0" dirty="0" err="1">
                <a:solidFill>
                  <a:srgbClr val="666666"/>
                </a:solidFill>
                <a:latin typeface="Times New Roman"/>
              </a:rPr>
              <a:t>正确样本平均置信度</a:t>
            </a:r>
            <a:r>
              <a:rPr sz="1600" b="0" i="0" dirty="0">
                <a:solidFill>
                  <a:srgbClr val="666666"/>
                </a:solidFill>
                <a:latin typeface="Times New Roman"/>
              </a:rPr>
              <a:t> − </a:t>
            </a:r>
            <a:r>
              <a:rPr sz="1600" b="0" i="0" dirty="0" err="1">
                <a:solidFill>
                  <a:srgbClr val="666666"/>
                </a:solidFill>
                <a:latin typeface="Times New Roman"/>
              </a:rPr>
              <a:t>错误样本平均置信度</a:t>
            </a:r>
            <a:endParaRPr sz="1600" b="0" i="0" dirty="0">
              <a:solidFill>
                <a:srgbClr val="666666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800" b="0" i="1" dirty="0" err="1">
                <a:solidFill>
                  <a:srgbClr val="1A1A2E"/>
                </a:solidFill>
                <a:latin typeface="Times New Roman"/>
              </a:rPr>
              <a:t>直觉：模型能否区分「猜对了」和「猜错了</a:t>
            </a:r>
            <a:r>
              <a:rPr sz="1800" b="0" i="1" dirty="0">
                <a:solidFill>
                  <a:srgbClr val="1A1A2E"/>
                </a:solidFill>
                <a:latin typeface="Times New Roman"/>
              </a:rPr>
              <a:t>」</a:t>
            </a:r>
          </a:p>
          <a:p>
            <a:pPr algn="l">
              <a:spcAft>
                <a:spcPts val="400"/>
              </a:spcAft>
            </a:pPr>
            <a:endParaRPr lang="en-US" sz="1800" b="0" i="1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endParaRPr sz="1800" b="0" i="1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1A1A2E"/>
                </a:solidFill>
                <a:latin typeface="Courier New"/>
              </a:rPr>
              <a:t>Token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正确Prefix</a:t>
            </a:r>
            <a:r>
              <a:rPr sz="1600" b="1" i="0" dirty="0">
                <a:solidFill>
                  <a:srgbClr val="1A1A2E"/>
                </a:solidFill>
                <a:latin typeface="Courier New"/>
              </a:rPr>
              <a:t>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模型生成</a:t>
            </a:r>
            <a:r>
              <a:rPr sz="1600" b="1" i="0" dirty="0">
                <a:solidFill>
                  <a:srgbClr val="1A1A2E"/>
                </a:solidFill>
                <a:latin typeface="Courier New"/>
              </a:rPr>
              <a:t>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崩溃</a:t>
            </a:r>
            <a:endParaRPr sz="1600" b="1" i="0" dirty="0">
              <a:solidFill>
                <a:srgbClr val="1A1A2E"/>
              </a:solidFill>
              <a:latin typeface="Courier New"/>
            </a:endParaRP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0     0.027     0.027     —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1     0.251     0.080   -68%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2     0.269     0.020   -93%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C0392B"/>
                </a:solidFill>
                <a:latin typeface="Courier New"/>
              </a:rPr>
              <a:t>  3     0.282     0.001   -99.6%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9F80A-6D0B-7801-0986-B97FCA2820A4}"/>
              </a:ext>
            </a:extLst>
          </p:cNvPr>
          <p:cNvSpPr txBox="1"/>
          <p:nvPr/>
        </p:nvSpPr>
        <p:spPr>
          <a:xfrm>
            <a:off x="4821607" y="3398736"/>
            <a:ext cx="4322393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 dirty="0" err="1">
                <a:solidFill>
                  <a:srgbClr val="213070"/>
                </a:solidFill>
                <a:latin typeface="Times New Roman"/>
              </a:rPr>
              <a:t>ECE（校准误差</a:t>
            </a:r>
            <a:r>
              <a:rPr sz="2200" b="1" i="0" dirty="0">
                <a:solidFill>
                  <a:srgbClr val="213070"/>
                </a:solidFill>
                <a:latin typeface="Times New Roman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666666"/>
                </a:solidFill>
                <a:latin typeface="Times New Roman"/>
              </a:rPr>
              <a:t>= </a:t>
            </a:r>
            <a:r>
              <a:rPr sz="1600" b="0" i="0" dirty="0" err="1">
                <a:solidFill>
                  <a:srgbClr val="666666"/>
                </a:solidFill>
                <a:latin typeface="Times New Roman"/>
              </a:rPr>
              <a:t>置信度与实际准确率的平均偏差</a:t>
            </a:r>
            <a:endParaRPr sz="1600" b="0" i="0" dirty="0">
              <a:solidFill>
                <a:srgbClr val="666666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800" b="0" i="1" dirty="0" err="1">
                <a:solidFill>
                  <a:srgbClr val="1A1A2E"/>
                </a:solidFill>
                <a:latin typeface="Times New Roman"/>
              </a:rPr>
              <a:t>直觉：模型说「我</a:t>
            </a:r>
            <a:r>
              <a:rPr sz="1800" b="0" i="1" dirty="0">
                <a:solidFill>
                  <a:srgbClr val="1A1A2E"/>
                </a:solidFill>
                <a:latin typeface="Times New Roman"/>
              </a:rPr>
              <a:t> 90% </a:t>
            </a:r>
            <a:r>
              <a:rPr sz="1800" b="0" i="1" dirty="0" err="1">
                <a:solidFill>
                  <a:srgbClr val="1A1A2E"/>
                </a:solidFill>
                <a:latin typeface="Times New Roman"/>
              </a:rPr>
              <a:t>确定」时，是否真的</a:t>
            </a:r>
            <a:r>
              <a:rPr sz="1800" b="0" i="1" dirty="0">
                <a:solidFill>
                  <a:srgbClr val="1A1A2E"/>
                </a:solidFill>
                <a:latin typeface="Times New Roman"/>
              </a:rPr>
              <a:t> 90% </a:t>
            </a:r>
            <a:r>
              <a:rPr sz="1800" b="0" i="1" dirty="0" err="1">
                <a:solidFill>
                  <a:srgbClr val="1A1A2E"/>
                </a:solidFill>
                <a:latin typeface="Times New Roman"/>
              </a:rPr>
              <a:t>对</a:t>
            </a:r>
            <a:endParaRPr sz="1800" b="0" i="1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endParaRPr sz="1800" b="0" i="1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1A1A2E"/>
                </a:solidFill>
                <a:latin typeface="Courier New"/>
              </a:rPr>
              <a:t>Token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正确Prefix</a:t>
            </a:r>
            <a:r>
              <a:rPr sz="1600" b="1" i="0" dirty="0">
                <a:solidFill>
                  <a:srgbClr val="1A1A2E"/>
                </a:solidFill>
                <a:latin typeface="Courier New"/>
              </a:rPr>
              <a:t>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模型生成</a:t>
            </a:r>
            <a:r>
              <a:rPr sz="1600" b="1" i="0" dirty="0">
                <a:solidFill>
                  <a:srgbClr val="1A1A2E"/>
                </a:solidFill>
                <a:latin typeface="Courier New"/>
              </a:rPr>
              <a:t>  </a:t>
            </a:r>
            <a:r>
              <a:rPr sz="1600" b="1" i="0" dirty="0" err="1">
                <a:solidFill>
                  <a:srgbClr val="1A1A2E"/>
                </a:solidFill>
                <a:latin typeface="Courier New"/>
              </a:rPr>
              <a:t>爆炸</a:t>
            </a:r>
            <a:endParaRPr sz="1600" b="1" i="0" dirty="0">
              <a:solidFill>
                <a:srgbClr val="1A1A2E"/>
              </a:solidFill>
              <a:latin typeface="Courier New"/>
            </a:endParaRP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0     0.007     0.007     1x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1     0.068     0.360     5x</a:t>
            </a: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1A1A2E"/>
                </a:solidFill>
                <a:latin typeface="Courier New"/>
              </a:rPr>
              <a:t>  2     0.035     0.901    25x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C0392B"/>
                </a:solidFill>
                <a:latin typeface="Courier New"/>
              </a:rPr>
              <a:t>  3     0.011     0.890    78x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9E4B5-B5B3-8B29-16C0-E3A525A2B96D}"/>
              </a:ext>
            </a:extLst>
          </p:cNvPr>
          <p:cNvSpPr txBox="1"/>
          <p:nvPr/>
        </p:nvSpPr>
        <p:spPr>
          <a:xfrm>
            <a:off x="-1" y="17296"/>
            <a:ext cx="89883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 dirty="0">
                <a:solidFill>
                  <a:srgbClr val="213070"/>
                </a:solidFill>
                <a:latin typeface="Times New Roman"/>
              </a:rPr>
              <a:t>Root Cause: </a:t>
            </a:r>
            <a:r>
              <a:rPr sz="3200" b="1" i="0" dirty="0" err="1">
                <a:solidFill>
                  <a:srgbClr val="213070"/>
                </a:solidFill>
                <a:latin typeface="Times New Roman"/>
              </a:rPr>
              <a:t>置信度崩塌</a:t>
            </a:r>
            <a:endParaRPr sz="3200" b="1" i="0" dirty="0">
              <a:solidFill>
                <a:srgbClr val="21307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93C01-B8DF-30EC-DED9-88B84E1F7340}"/>
              </a:ext>
            </a:extLst>
          </p:cNvPr>
          <p:cNvSpPr txBox="1"/>
          <p:nvPr/>
        </p:nvSpPr>
        <p:spPr>
          <a:xfrm>
            <a:off x="-1" y="564700"/>
            <a:ext cx="8988305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 err="1">
                <a:solidFill>
                  <a:srgbClr val="213070"/>
                </a:solidFill>
                <a:latin typeface="Times New Roman"/>
              </a:rPr>
              <a:t>核心观点</a:t>
            </a:r>
            <a:endParaRPr sz="26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rgbClr val="1A1A2E"/>
                </a:solidFill>
                <a:latin typeface="Times New Roman"/>
              </a:rPr>
              <a:t>Token₀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准确率仅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8.4%（256-way）→ 91.6%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概率传播错误前缀</a:t>
            </a:r>
            <a:endParaRPr sz="22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200" b="1" i="0" dirty="0" err="1">
                <a:solidFill>
                  <a:srgbClr val="C0392B"/>
                </a:solidFill>
                <a:latin typeface="Times New Roman"/>
              </a:rPr>
              <a:t>模型在错误前缀下反而更自信</a:t>
            </a:r>
            <a:r>
              <a:rPr sz="2200" b="1" i="0" dirty="0">
                <a:solidFill>
                  <a:srgbClr val="C0392B"/>
                </a:solidFill>
                <a:latin typeface="Times New Roman"/>
              </a:rPr>
              <a:t> → </a:t>
            </a:r>
            <a:r>
              <a:rPr sz="2200" b="1" i="0" dirty="0" err="1">
                <a:solidFill>
                  <a:srgbClr val="C0392B"/>
                </a:solidFill>
                <a:latin typeface="Times New Roman"/>
              </a:rPr>
              <a:t>置信度区分能力崩溃</a:t>
            </a:r>
            <a:r>
              <a:rPr sz="2200" b="1" i="0" dirty="0">
                <a:solidFill>
                  <a:srgbClr val="C0392B"/>
                </a:solidFill>
                <a:latin typeface="Times New Roman"/>
              </a:rPr>
              <a:t> 99.6%</a:t>
            </a:r>
          </a:p>
        </p:txBody>
      </p:sp>
    </p:spTree>
    <p:extLst>
      <p:ext uri="{BB962C8B-B14F-4D97-AF65-F5344CB8AC3E}">
        <p14:creationId xmlns:p14="http://schemas.microsoft.com/office/powerpoint/2010/main" val="279372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3070"/>
                </a:solidFill>
                <a:latin typeface="Times New Roman"/>
              </a:rPr>
              <a:t>Evidence: 置信度崩塌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474" t="10221" r="1474" b="1819"/>
          <a:stretch>
            <a:fillRect/>
          </a:stretch>
        </p:blipFill>
        <p:spPr>
          <a:xfrm>
            <a:off x="951470" y="868680"/>
            <a:ext cx="7241060" cy="5400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0962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 dirty="0">
                <a:solidFill>
                  <a:srgbClr val="666666"/>
                </a:solidFill>
                <a:latin typeface="Times New Roman"/>
              </a:rPr>
              <a:t>Literature </a:t>
            </a:r>
            <a:r>
              <a:rPr sz="1600" b="0" i="1" dirty="0" err="1">
                <a:solidFill>
                  <a:srgbClr val="666666"/>
                </a:solidFill>
                <a:latin typeface="Times New Roman"/>
              </a:rPr>
              <a:t>Gap：Token</a:t>
            </a:r>
            <a:r>
              <a:rPr sz="1600" b="0" i="1" dirty="0">
                <a:solidFill>
                  <a:srgbClr val="666666"/>
                </a:solidFill>
                <a:latin typeface="Times New Roman"/>
              </a:rPr>
              <a:t>₀ </a:t>
            </a:r>
            <a:r>
              <a:rPr sz="1600" b="0" i="1" dirty="0" err="1">
                <a:solidFill>
                  <a:srgbClr val="666666"/>
                </a:solidFill>
                <a:latin typeface="Times New Roman"/>
              </a:rPr>
              <a:t>瓶颈已知（Latte</a:t>
            </a:r>
            <a:r>
              <a:rPr sz="1600" b="0" i="1" dirty="0">
                <a:solidFill>
                  <a:srgbClr val="666666"/>
                </a:solidFill>
                <a:latin typeface="Times New Roman"/>
              </a:rPr>
              <a:t>, RPG），</a:t>
            </a:r>
            <a:r>
              <a:rPr sz="1600" b="0" i="1" dirty="0" err="1">
                <a:solidFill>
                  <a:srgbClr val="666666"/>
                </a:solidFill>
                <a:latin typeface="Times New Roman"/>
              </a:rPr>
              <a:t>但</a:t>
            </a:r>
            <a:r>
              <a:rPr sz="1600" b="0" i="1" dirty="0">
                <a:solidFill>
                  <a:srgbClr val="666666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666666"/>
                </a:solidFill>
                <a:latin typeface="Times New Roman"/>
              </a:rPr>
              <a:t>置信度崩塌</a:t>
            </a:r>
            <a:r>
              <a:rPr sz="1600" b="0" i="1" dirty="0">
                <a:solidFill>
                  <a:srgbClr val="666666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666666"/>
                </a:solidFill>
                <a:latin typeface="Times New Roman"/>
              </a:rPr>
              <a:t>从未被量化</a:t>
            </a:r>
            <a:endParaRPr sz="1600" b="0" i="1" dirty="0">
              <a:solidFill>
                <a:srgbClr val="666666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3070"/>
                </a:solidFill>
                <a:latin typeface="Times New Roman"/>
              </a:rPr>
              <a:t>Evidence: Softmax 分布对比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650" t="12964" r="476" b="2161"/>
          <a:stretch>
            <a:fillRect/>
          </a:stretch>
        </p:blipFill>
        <p:spPr>
          <a:xfrm>
            <a:off x="177799" y="1148939"/>
            <a:ext cx="8966199" cy="4348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9" y="5777885"/>
            <a:ext cx="909320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 dirty="0" err="1">
                <a:solidFill>
                  <a:srgbClr val="C0392B"/>
                </a:solidFill>
                <a:latin typeface="Times New Roman"/>
              </a:rPr>
              <a:t>结论：错误前缀下，模型给出</a:t>
            </a:r>
            <a:r>
              <a:rPr sz="2400" b="1" i="0" dirty="0">
                <a:solidFill>
                  <a:srgbClr val="C0392B"/>
                </a:solidFill>
                <a:latin typeface="Times New Roman"/>
              </a:rPr>
              <a:t> 95-99% </a:t>
            </a:r>
            <a:r>
              <a:rPr sz="2400" b="1" i="0" dirty="0" err="1">
                <a:solidFill>
                  <a:srgbClr val="C0392B"/>
                </a:solidFill>
                <a:latin typeface="Times New Roman"/>
              </a:rPr>
              <a:t>置信度，但准确率仅</a:t>
            </a:r>
            <a:r>
              <a:rPr sz="2400" b="1" i="0" dirty="0">
                <a:solidFill>
                  <a:srgbClr val="C0392B"/>
                </a:solidFill>
                <a:latin typeface="Times New Roman"/>
              </a:rPr>
              <a:t> 3-8%</a:t>
            </a:r>
          </a:p>
          <a:p>
            <a:pPr algn="l">
              <a:spcAft>
                <a:spcPts val="400"/>
              </a:spcAft>
            </a:pP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越错越自信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→ Beam Score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不可信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→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需要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Post-hoc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重排序</a:t>
            </a:r>
            <a:endParaRPr sz="2200" b="0" i="0" dirty="0">
              <a:solidFill>
                <a:srgbClr val="1A1A2E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 dirty="0">
                <a:solidFill>
                  <a:srgbClr val="213070"/>
                </a:solidFill>
                <a:latin typeface="Times New Roman"/>
              </a:rPr>
              <a:t>Solution: Post-hoc Listwise Scorer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97280"/>
            <a:ext cx="7942881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 dirty="0" err="1">
                <a:solidFill>
                  <a:srgbClr val="213070"/>
                </a:solidFill>
                <a:latin typeface="Times New Roman"/>
              </a:rPr>
              <a:t>诊断驱动设计</a:t>
            </a:r>
            <a:endParaRPr sz="24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1A1A2E"/>
                </a:solidFill>
                <a:latin typeface="Times New Roman"/>
              </a:rPr>
              <a:t>Beam Score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因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崩塌（Cascade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）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不可靠</a:t>
            </a:r>
            <a:endParaRPr sz="20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1A1A2E"/>
                </a:solidFill>
                <a:latin typeface="Times New Roman"/>
              </a:rPr>
              <a:t>→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利用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Decoder Hidden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States（Pre-Softmax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表征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C0392B"/>
                </a:solidFill>
                <a:latin typeface="Times New Roman"/>
              </a:rPr>
              <a:t>→ </a:t>
            </a:r>
            <a:r>
              <a:rPr sz="2000" b="1" i="0" dirty="0" err="1">
                <a:solidFill>
                  <a:srgbClr val="C0392B"/>
                </a:solidFill>
                <a:latin typeface="Times New Roman"/>
              </a:rPr>
              <a:t>绕过崩溃的</a:t>
            </a:r>
            <a:r>
              <a:rPr sz="2000" b="1" i="0" dirty="0">
                <a:solidFill>
                  <a:srgbClr val="C0392B"/>
                </a:solidFill>
                <a:latin typeface="Times New Roman"/>
              </a:rPr>
              <a:t> Confidence </a:t>
            </a:r>
            <a:r>
              <a:rPr sz="2000" b="1" i="0" dirty="0" err="1">
                <a:solidFill>
                  <a:srgbClr val="C0392B"/>
                </a:solidFill>
                <a:latin typeface="Times New Roman"/>
              </a:rPr>
              <a:t>信号</a:t>
            </a:r>
            <a:endParaRPr sz="2000" b="1" i="0" dirty="0">
              <a:solidFill>
                <a:srgbClr val="C0392B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endParaRPr sz="2000" b="1" i="0" dirty="0">
              <a:solidFill>
                <a:srgbClr val="C0392B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endParaRPr sz="1800" b="0" i="0" dirty="0">
              <a:solidFill>
                <a:srgbClr val="1A1A2E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99F7B7-604D-971F-40EF-5CB469372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92988"/>
            <a:ext cx="8737600" cy="4769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8D232-CA2E-1264-32C8-E9C0C839A3E0}"/>
              </a:ext>
            </a:extLst>
          </p:cNvPr>
          <p:cNvSpPr txBox="1"/>
          <p:nvPr/>
        </p:nvSpPr>
        <p:spPr>
          <a:xfrm>
            <a:off x="0" y="5021600"/>
            <a:ext cx="5592233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2000" b="1" i="0" dirty="0">
                <a:solidFill>
                  <a:srgbClr val="213070"/>
                </a:solidFill>
                <a:latin typeface="Times New Roman"/>
              </a:rPr>
              <a:t>架构</a:t>
            </a:r>
          </a:p>
          <a:p>
            <a:pPr algn="l">
              <a:spcAft>
                <a:spcPts val="400"/>
              </a:spcAft>
            </a:pPr>
            <a:r>
              <a:rPr lang="zh-CN" altLang="en-US" sz="1600" b="0" i="0" dirty="0">
                <a:solidFill>
                  <a:srgbClr val="1A1A2E"/>
                </a:solidFill>
                <a:latin typeface="Times New Roman"/>
              </a:rPr>
              <a:t>输入：</a:t>
            </a:r>
            <a:r>
              <a:rPr lang="en-US" sz="1600" b="0" i="0" dirty="0">
                <a:solidFill>
                  <a:srgbClr val="1A1A2E"/>
                </a:solidFill>
                <a:latin typeface="Times New Roman"/>
              </a:rPr>
              <a:t>Hidden States [K,4,128] + Beam Scores [K]</a:t>
            </a:r>
            <a:r>
              <a:rPr lang="zh-CN" altLang="en-US" sz="16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lang="en-US" altLang="zh-CN" sz="1600" b="0" i="0" dirty="0">
                <a:solidFill>
                  <a:srgbClr val="1A1A2E"/>
                </a:solidFill>
                <a:latin typeface="Times New Roman"/>
              </a:rPr>
              <a:t>+</a:t>
            </a:r>
            <a:r>
              <a:rPr lang="zh-CN" altLang="en-US" sz="16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lang="en-US" altLang="zh-CN" sz="1600" b="0" i="0" dirty="0">
                <a:solidFill>
                  <a:srgbClr val="1A1A2E"/>
                </a:solidFill>
                <a:latin typeface="Times New Roman"/>
              </a:rPr>
              <a:t>User State</a:t>
            </a:r>
            <a:endParaRPr lang="en-US" sz="16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lang="en-US" sz="1600" b="0" i="0" dirty="0">
                <a:solidFill>
                  <a:srgbClr val="1A1A2E"/>
                </a:solidFill>
                <a:latin typeface="Times New Roman"/>
              </a:rPr>
              <a:t>Flatten → Linear(513,128) + </a:t>
            </a:r>
            <a:r>
              <a:rPr lang="en-US" sz="1600" b="0" i="0" dirty="0" err="1">
                <a:solidFill>
                  <a:srgbClr val="1A1A2E"/>
                </a:solidFill>
                <a:latin typeface="Times New Roman"/>
              </a:rPr>
              <a:t>LayerNorm</a:t>
            </a:r>
            <a:endParaRPr lang="en-US" sz="16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lang="en-US" sz="1600" b="0" i="0" dirty="0">
                <a:solidFill>
                  <a:srgbClr val="1A1A2E"/>
                </a:solidFill>
                <a:latin typeface="Times New Roman"/>
              </a:rPr>
              <a:t>Prepend User CLS → 2-layer Transformer→ Candidates </a:t>
            </a:r>
            <a:r>
              <a:rPr lang="zh-CN" altLang="en-US" sz="1600" b="0" i="0" dirty="0">
                <a:solidFill>
                  <a:srgbClr val="1A1A2E"/>
                </a:solidFill>
                <a:latin typeface="Times New Roman"/>
              </a:rPr>
              <a:t>互相可见（相对质量评估）</a:t>
            </a:r>
          </a:p>
          <a:p>
            <a:pPr algn="l">
              <a:spcAft>
                <a:spcPts val="400"/>
              </a:spcAft>
            </a:pPr>
            <a:r>
              <a:rPr lang="en-US" sz="1600" b="0" i="0" dirty="0">
                <a:solidFill>
                  <a:srgbClr val="1A1A2E"/>
                </a:solidFill>
                <a:latin typeface="Times New Roman"/>
              </a:rPr>
              <a:t>Output → Linear(128,1) → [K] Scores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F2ABA-125C-173D-92D9-E73BDB2A3BB5}"/>
              </a:ext>
            </a:extLst>
          </p:cNvPr>
          <p:cNvSpPr txBox="1"/>
          <p:nvPr/>
        </p:nvSpPr>
        <p:spPr>
          <a:xfrm>
            <a:off x="5592233" y="5021600"/>
            <a:ext cx="41613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 err="1">
                <a:solidFill>
                  <a:srgbClr val="213070"/>
                </a:solidFill>
                <a:latin typeface="Times New Roman"/>
              </a:rPr>
              <a:t>点睛之笔</a:t>
            </a:r>
            <a:endParaRPr sz="20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b="0" i="0" dirty="0">
                <a:solidFill>
                  <a:srgbClr val="1A1A2E"/>
                </a:solidFill>
                <a:latin typeface="Times New Roman"/>
              </a:rPr>
              <a:t>•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Post-hoc：Generator</a:t>
            </a:r>
            <a:r>
              <a:rPr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完全冻结</a:t>
            </a:r>
            <a:endParaRPr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b="0" i="0" dirty="0">
                <a:solidFill>
                  <a:srgbClr val="1A1A2E"/>
                </a:solidFill>
                <a:latin typeface="Times New Roman"/>
              </a:rPr>
              <a:t>•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Plug-in：适配任意预训练</a:t>
            </a:r>
            <a:r>
              <a:rPr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GenRec</a:t>
            </a:r>
            <a:endParaRPr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b="0" i="0" dirty="0">
                <a:solidFill>
                  <a:srgbClr val="1A1A2E"/>
                </a:solidFill>
                <a:latin typeface="Times New Roman"/>
              </a:rPr>
              <a:t>•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轻量</a:t>
            </a:r>
            <a:r>
              <a:rPr b="0" i="0" dirty="0">
                <a:solidFill>
                  <a:srgbClr val="1A1A2E"/>
                </a:solidFill>
                <a:latin typeface="Times New Roman"/>
              </a:rPr>
              <a:t>：~530K </a:t>
            </a:r>
            <a:r>
              <a:rPr b="0" i="0" dirty="0" err="1">
                <a:solidFill>
                  <a:srgbClr val="1A1A2E"/>
                </a:solidFill>
                <a:latin typeface="Times New Roman"/>
              </a:rPr>
              <a:t>参数，BCE</a:t>
            </a:r>
            <a:r>
              <a:rPr b="0" i="0" dirty="0">
                <a:solidFill>
                  <a:srgbClr val="1A1A2E"/>
                </a:solidFill>
                <a:latin typeface="Times New Roman"/>
              </a:rPr>
              <a:t> Loss</a:t>
            </a:r>
          </a:p>
        </p:txBody>
      </p:sp>
    </p:spTree>
    <p:extLst>
      <p:ext uri="{BB962C8B-B14F-4D97-AF65-F5344CB8AC3E}">
        <p14:creationId xmlns:p14="http://schemas.microsoft.com/office/powerpoint/2010/main" val="2855482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3070"/>
                </a:solidFill>
                <a:latin typeface="Times New Roman"/>
              </a:rPr>
              <a:t>Results: Scoring Efficiency 提升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213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R@1</a:t>
                      </a:r>
                    </a:p>
                  </a:txBody>
                  <a:tcPr>
                    <a:solidFill>
                      <a:srgbClr val="213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imes New Roman"/>
                        </a:rPr>
                        <a:t>vs Vanilla</a:t>
                      </a:r>
                    </a:p>
                  </a:txBody>
                  <a:tcPr>
                    <a:solidFill>
                      <a:srgbClr val="213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R@50</a:t>
                      </a:r>
                    </a:p>
                  </a:txBody>
                  <a:tcPr>
                    <a:solidFill>
                      <a:srgbClr val="21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Vanilla BS-50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Pointwise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+9.9%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Pointwise nnPU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3.53%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1A1A2E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1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Listwise BCE (5-seed)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3.62%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+9.2%±0.9%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 dirty="0">
                          <a:solidFill>
                            <a:srgbClr val="1A1A2E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 i="1">
                          <a:solidFill>
                            <a:srgbClr val="666666"/>
                          </a:solidFill>
                          <a:latin typeface="Times New Roman"/>
                        </a:rPr>
                        <a:t>Oracle (perfect rank)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1">
                          <a:solidFill>
                            <a:srgbClr val="666666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1">
                          <a:solidFill>
                            <a:srgbClr val="666666"/>
                          </a:solidFill>
                          <a:latin typeface="Times New Roman"/>
                        </a:rPr>
                        <a:t>+1009%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1" dirty="0">
                          <a:solidFill>
                            <a:srgbClr val="666666"/>
                          </a:solidFill>
                          <a:latin typeface="Times New Roman"/>
                        </a:rPr>
                        <a:t>36.71%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 dirty="0">
                <a:solidFill>
                  <a:srgbClr val="C0392B"/>
                </a:solidFill>
                <a:latin typeface="Times New Roman"/>
              </a:rPr>
              <a:t>Scoring Efficiency：9.0% → 9.9%</a:t>
            </a:r>
          </a:p>
          <a:p>
            <a:pPr algn="ctr">
              <a:spcAft>
                <a:spcPts val="400"/>
              </a:spcAft>
            </a:pPr>
            <a:r>
              <a:rPr sz="2200" b="0" i="0" dirty="0">
                <a:solidFill>
                  <a:srgbClr val="1A1A2E"/>
                </a:solidFill>
                <a:latin typeface="Times New Roman"/>
              </a:rPr>
              <a:t>呼应问题：91%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浪费</a:t>
            </a:r>
            <a:r>
              <a:rPr sz="2200" b="0" i="0" dirty="0">
                <a:solidFill>
                  <a:srgbClr val="1A1A2E"/>
                </a:solidFill>
                <a:latin typeface="Times New Roman"/>
              </a:rPr>
              <a:t> → Post-hoc Scorer </a:t>
            </a:r>
            <a:r>
              <a:rPr sz="2200" b="0" i="0" dirty="0" err="1">
                <a:solidFill>
                  <a:srgbClr val="1A1A2E"/>
                </a:solidFill>
                <a:latin typeface="Times New Roman"/>
              </a:rPr>
              <a:t>开始回收被埋没的正确答案</a:t>
            </a:r>
            <a:endParaRPr sz="2200" b="0" i="0" dirty="0">
              <a:solidFill>
                <a:srgbClr val="1A1A2E"/>
              </a:solidFill>
              <a:latin typeface="Times New Roman"/>
            </a:endParaRPr>
          </a:p>
          <a:p>
            <a:pPr algn="ctr"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Times New Roman"/>
              </a:rPr>
              <a:t>BCE Binary Loss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是唯一有效的损失函数（ListMLE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,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ApproxNDCG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Times New Roman"/>
              </a:rPr>
              <a:t>均无效</a:t>
            </a:r>
            <a:r>
              <a:rPr sz="1800" b="0" i="0" dirty="0">
                <a:solidFill>
                  <a:srgbClr val="666666"/>
                </a:solidFill>
                <a:latin typeface="Times New Roman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715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 dirty="0">
                <a:solidFill>
                  <a:srgbClr val="213070"/>
                </a:solidFill>
                <a:latin typeface="Times New Roman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715" y="914400"/>
            <a:ext cx="83690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 dirty="0">
                <a:solidFill>
                  <a:srgbClr val="213070"/>
                </a:solidFill>
                <a:latin typeface="Times New Roman"/>
              </a:rPr>
              <a:t>Problem → Diagnosis → Solution</a:t>
            </a:r>
          </a:p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A1A2E"/>
                </a:solidFill>
                <a:latin typeface="Times New Roman"/>
              </a:rPr>
              <a:t>1. </a:t>
            </a:r>
            <a:r>
              <a:rPr sz="2400" b="0" i="0" dirty="0" err="1">
                <a:solidFill>
                  <a:srgbClr val="1A1A2E"/>
                </a:solidFill>
                <a:latin typeface="Times New Roman"/>
              </a:rPr>
              <a:t>发现：Beam</a:t>
            </a:r>
            <a:r>
              <a:rPr sz="2400" b="0" i="0" dirty="0">
                <a:solidFill>
                  <a:srgbClr val="1A1A2E"/>
                </a:solidFill>
                <a:latin typeface="Times New Roman"/>
              </a:rPr>
              <a:t> Search Scoring Efficiency = 9.0%</a:t>
            </a: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666666"/>
                </a:solidFill>
                <a:latin typeface="Times New Roman"/>
              </a:rPr>
              <a:t>   91% </a:t>
            </a:r>
            <a:r>
              <a:rPr sz="2000" b="0" i="0" dirty="0" err="1">
                <a:solidFill>
                  <a:srgbClr val="666666"/>
                </a:solidFill>
                <a:latin typeface="Times New Roman"/>
              </a:rPr>
              <a:t>正确生成的候选项被错误排序埋没</a:t>
            </a:r>
            <a:endParaRPr sz="2000" b="0" i="0" dirty="0">
              <a:solidFill>
                <a:srgbClr val="666666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A1A2E"/>
                </a:solidFill>
                <a:latin typeface="Times New Roman"/>
              </a:rPr>
              <a:t>2. </a:t>
            </a:r>
            <a:r>
              <a:rPr sz="2400" b="0" i="0" dirty="0" err="1">
                <a:solidFill>
                  <a:srgbClr val="1A1A2E"/>
                </a:solidFill>
                <a:latin typeface="Times New Roman"/>
              </a:rPr>
              <a:t>诊断：置信度崩塌</a:t>
            </a:r>
            <a:endParaRPr sz="24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666666"/>
                </a:solidFill>
                <a:latin typeface="Times New Roman"/>
              </a:rPr>
              <a:t>   Token₀ </a:t>
            </a:r>
            <a:r>
              <a:rPr sz="2000" b="0" i="0" dirty="0" err="1">
                <a:solidFill>
                  <a:srgbClr val="666666"/>
                </a:solidFill>
                <a:latin typeface="Times New Roman"/>
              </a:rPr>
              <a:t>错误</a:t>
            </a:r>
            <a:r>
              <a:rPr sz="2000" b="0" i="0" dirty="0">
                <a:solidFill>
                  <a:srgbClr val="666666"/>
                </a:solidFill>
                <a:latin typeface="Times New Roman"/>
              </a:rPr>
              <a:t> → Discriminability </a:t>
            </a:r>
            <a:r>
              <a:rPr sz="2000" b="0" i="0" dirty="0" err="1">
                <a:solidFill>
                  <a:srgbClr val="666666"/>
                </a:solidFill>
                <a:latin typeface="Times New Roman"/>
              </a:rPr>
              <a:t>崩溃</a:t>
            </a:r>
            <a:r>
              <a:rPr sz="2000" b="0" i="0" dirty="0">
                <a:solidFill>
                  <a:srgbClr val="666666"/>
                </a:solidFill>
                <a:latin typeface="Times New Roman"/>
              </a:rPr>
              <a:t> 99.6%，ECE </a:t>
            </a:r>
            <a:r>
              <a:rPr sz="2000" b="0" i="0" dirty="0" err="1">
                <a:solidFill>
                  <a:srgbClr val="666666"/>
                </a:solidFill>
                <a:latin typeface="Times New Roman"/>
              </a:rPr>
              <a:t>爆炸</a:t>
            </a:r>
            <a:r>
              <a:rPr sz="2000" b="0" i="0" dirty="0">
                <a:solidFill>
                  <a:srgbClr val="666666"/>
                </a:solidFill>
                <a:latin typeface="Times New Roman"/>
              </a:rPr>
              <a:t> 78x</a:t>
            </a:r>
          </a:p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A1A2E"/>
                </a:solidFill>
                <a:latin typeface="Times New Roman"/>
              </a:rPr>
              <a:t>3. </a:t>
            </a:r>
            <a:r>
              <a:rPr sz="2400" b="0" i="0" dirty="0" err="1">
                <a:solidFill>
                  <a:srgbClr val="1A1A2E"/>
                </a:solidFill>
                <a:latin typeface="Times New Roman"/>
              </a:rPr>
              <a:t>解决：Post-hoc</a:t>
            </a:r>
            <a:r>
              <a:rPr sz="24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400" b="0" i="0" dirty="0" err="1">
                <a:solidFill>
                  <a:srgbClr val="1A1A2E"/>
                </a:solidFill>
                <a:latin typeface="Times New Roman"/>
              </a:rPr>
              <a:t>Scorer（冻结</a:t>
            </a:r>
            <a:r>
              <a:rPr sz="2400" b="0" i="0" dirty="0">
                <a:solidFill>
                  <a:srgbClr val="1A1A2E"/>
                </a:solidFill>
                <a:latin typeface="Times New Roman"/>
              </a:rPr>
              <a:t> Decoder Hidden States）</a:t>
            </a:r>
          </a:p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C0392B"/>
                </a:solidFill>
                <a:latin typeface="Times New Roman"/>
              </a:rPr>
              <a:t>   +9.2% R@1（5-seed, p&lt;0.05），Model-Agnostic，~530K </a:t>
            </a:r>
            <a:r>
              <a:rPr sz="2000" b="1" i="0" dirty="0" err="1">
                <a:solidFill>
                  <a:srgbClr val="C0392B"/>
                </a:solidFill>
                <a:latin typeface="Times New Roman"/>
              </a:rPr>
              <a:t>参数</a:t>
            </a:r>
            <a:endParaRPr sz="2000" b="1" i="0" dirty="0">
              <a:solidFill>
                <a:srgbClr val="C0392B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715" y="4063655"/>
            <a:ext cx="45720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 dirty="0" err="1">
                <a:solidFill>
                  <a:srgbClr val="213070"/>
                </a:solidFill>
                <a:latin typeface="Times New Roman"/>
              </a:rPr>
              <a:t>创新点</a:t>
            </a:r>
            <a:endParaRPr sz="24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1A1A2E"/>
                </a:solidFill>
                <a:latin typeface="Times New Roman"/>
              </a:rPr>
              <a:t>•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置信度崩塌：首次量化逐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Token ECE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爆炸</a:t>
            </a:r>
            <a:endParaRPr sz="20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>
                <a:solidFill>
                  <a:srgbClr val="1A1A2E"/>
                </a:solidFill>
                <a:latin typeface="Times New Roman"/>
              </a:rPr>
              <a:t>• Scoring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Efficiency：新诊断指标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SE = R@1/R@K</a:t>
            </a:r>
            <a:endParaRPr lang="en-CN" sz="2000" b="0" i="0" dirty="0">
              <a:solidFill>
                <a:srgbClr val="1A1A2E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1A1A2E"/>
                </a:solidFill>
                <a:latin typeface="Times New Roman"/>
              </a:rPr>
              <a:t>• Beam Reranking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72144"/>
            <a:ext cx="36576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 dirty="0" err="1">
                <a:solidFill>
                  <a:srgbClr val="213070"/>
                </a:solidFill>
                <a:latin typeface="Times New Roman"/>
              </a:rPr>
              <a:t>目标</a:t>
            </a:r>
            <a:endParaRPr sz="2400" b="1" i="0" dirty="0">
              <a:solidFill>
                <a:srgbClr val="213070"/>
              </a:solidFill>
              <a:latin typeface="Times New Roman"/>
            </a:endParaRPr>
          </a:p>
          <a:p>
            <a:pPr algn="l">
              <a:spcAft>
                <a:spcPts val="400"/>
              </a:spcAft>
            </a:pP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下一步：Amazon-Beauty</a:t>
            </a:r>
            <a:r>
              <a:rPr sz="2000" b="0" i="0" dirty="0">
                <a:solidFill>
                  <a:srgbClr val="1A1A2E"/>
                </a:solidFill>
                <a:latin typeface="Times New Roman"/>
              </a:rPr>
              <a:t> </a:t>
            </a:r>
            <a:r>
              <a:rPr sz="2000" b="0" i="0" dirty="0" err="1">
                <a:solidFill>
                  <a:srgbClr val="1A1A2E"/>
                </a:solidFill>
                <a:latin typeface="Times New Roman"/>
              </a:rPr>
              <a:t>跨域验证</a:t>
            </a:r>
            <a:endParaRPr sz="2000" b="0" i="0" dirty="0">
              <a:solidFill>
                <a:srgbClr val="1A1A2E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CF67AD-5E12-2A06-2CEC-7EB0CA0E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547"/>
            <a:ext cx="9144000" cy="499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0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8418FC-989E-7FBF-DF86-65921B16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42580"/>
            <a:ext cx="9004515" cy="491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9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550</Words>
  <Application>Microsoft Macintosh PowerPoint</Application>
  <PresentationFormat>On-screen Show (4:3)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Lisha Qu</cp:lastModifiedBy>
  <cp:revision>2</cp:revision>
  <dcterms:created xsi:type="dcterms:W3CDTF">2013-01-27T09:14:16Z</dcterms:created>
  <dcterms:modified xsi:type="dcterms:W3CDTF">2026-05-29T07:52:03Z</dcterms:modified>
  <cp:category/>
</cp:coreProperties>
</file>